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Achievement %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23A4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Operations</c:v>
                  </c:pt>
                  <c:pt idx="1">
                    <c:v>Finance</c:v>
                  </c:pt>
                  <c:pt idx="2">
                    <c:v>Sales</c:v>
                  </c:pt>
                  <c:pt idx="3">
                    <c:v>HR</c:v>
                  </c:pt>
                  <c:pt idx="4">
                    <c:v>Customer Support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83.8</c:v>
                </c:pt>
                <c:pt idx="1">
                  <c:v>82.6</c:v>
                </c:pt>
                <c:pt idx="2">
                  <c:v>82.3</c:v>
                </c:pt>
                <c:pt idx="3">
                  <c:v>78.1</c:v>
                </c:pt>
                <c:pt idx="4">
                  <c:v>83.5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F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7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Achievement %</c:v>
                </c:pt>
              </c:strCache>
            </c:strRef>
          </c:tx>
          <c:spPr>
            <a:solidFill>
              <a:srgbClr val="D4AF37"/>
            </a:solidFill>
            <a:ln w="31750" cap="flat">
              <a:solidFill>
                <a:srgbClr val="D4AF3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D4AF37"/>
              </a:solidFill>
              <a:ln w="9525" cap="flat">
                <a:solidFill>
                  <a:srgbClr val="D4AF3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Apr</c:v>
                  </c:pt>
                  <c:pt idx="1">
                    <c:v>May</c:v>
                  </c:pt>
                  <c:pt idx="2">
                    <c:v>Jun</c:v>
                  </c:pt>
                  <c:pt idx="3">
                    <c:v>Jul</c:v>
                  </c:pt>
                  <c:pt idx="4">
                    <c:v>Aug</c:v>
                  </c:pt>
                  <c:pt idx="5">
                    <c:v>Sep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83.7</c:v>
                </c:pt>
                <c:pt idx="1">
                  <c:v>83</c:v>
                </c:pt>
                <c:pt idx="2">
                  <c:v>82.4</c:v>
                </c:pt>
                <c:pt idx="3">
                  <c:v>82.6</c:v>
                </c:pt>
                <c:pt idx="4">
                  <c:v>82.7</c:v>
                </c:pt>
                <c:pt idx="5">
                  <c:v>83.1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6"/>
          <c:min val="78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44506B"/>
              </a:solidFill>
              <a:effectLst/>
            </c:spPr>
          </c:dPt>
          <c:dPt>
            <c:idx val="2"/>
            <c:bubble3D val="0"/>
            <c:spPr>
              <a:solidFill>
                <a:srgbClr val="D4AF37"/>
              </a:solidFill>
              <a:effectLst/>
            </c:spPr>
          </c:dPt>
          <c:dPt>
            <c:idx val="3"/>
            <c:bubble3D val="0"/>
            <c:spPr>
              <a:solidFill>
                <a:srgbClr val="8C9BC7"/>
              </a:solidFill>
              <a:effectLst/>
            </c:spPr>
          </c:dPt>
          <c:dPt>
            <c:idx val="4"/>
            <c:bubble3D val="0"/>
            <c:spPr>
              <a:solidFill>
                <a:srgbClr val="B23A48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Present</c:v>
                </c:pt>
                <c:pt idx="1">
                  <c:v>Late</c:v>
                </c:pt>
                <c:pt idx="2">
                  <c:v>Leave</c:v>
                </c:pt>
                <c:pt idx="3">
                  <c:v>Half Day</c:v>
                </c:pt>
                <c:pt idx="4">
                  <c:v>Absent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2627</c:v>
                </c:pt>
                <c:pt idx="1">
                  <c:v>120</c:v>
                </c:pt>
                <c:pt idx="2">
                  <c:v>79</c:v>
                </c:pt>
                <c:pt idx="3">
                  <c:v>41</c:v>
                </c:pt>
                <c:pt idx="4">
                  <c:v>13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B1F2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097280"/>
            <a:ext cx="4114800" cy="4114800"/>
          </a:xfrm>
          <a:prstGeom prst="ellipse">
            <a:avLst/>
          </a:prstGeom>
          <a:solidFill>
            <a:srgbClr val="263171"/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0" y="4846320"/>
            <a:ext cx="2926080" cy="2926080"/>
          </a:xfrm>
          <a:prstGeom prst="ellipse">
            <a:avLst/>
          </a:prstGeom>
          <a:solidFill>
            <a:srgbClr val="26317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057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EXECUTIVE REPORT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2316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Productivity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&amp; Analysis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16052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review of workforce performance across 20 employees, 5 departments,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2 locations — April to September 2026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5806440"/>
            <a:ext cx="201168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5943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Management Review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Report Covers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81051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16712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structure, and time period of the productivity data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346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86207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Cleaning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321868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checks and the transformations applied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88620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91363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KPIs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427024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performance and attendance metrics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93776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96519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&amp; Location Performance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532180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achievement is strongest and weakest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178308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7178040" y="181051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 &amp; Case Analysis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216712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Six-month trajectory and process bottlenecks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8346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7178040" y="286207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/ Bottom Performers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321868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recognition and coaching focus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388620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391363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427024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for management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Productivity MIS  |  Apr–Sep 2026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DATASET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the Analysis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productivity records covering attendance, tasks, and case handling.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810512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48640" y="2313432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2,880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17520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Records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2057400"/>
            <a:ext cx="1810512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468880" y="2313432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45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3017520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2057400"/>
            <a:ext cx="1810512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389120" y="2313432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3017520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2057400"/>
            <a:ext cx="1810512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309360" y="2313432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45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3017520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0" y="2057400"/>
            <a:ext cx="1810512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229600" y="2313432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144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017520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Days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149840" y="2057400"/>
            <a:ext cx="1810512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10149840" y="2313432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45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10241280" y="3017520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(Apr–Sep)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977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Covered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343400"/>
            <a:ext cx="2057400" cy="502920"/>
          </a:xfrm>
          <a:prstGeom prst="roundRect">
            <a:avLst>
              <a:gd name="adj" fmla="val 50909"/>
            </a:avLst>
          </a:prstGeom>
          <a:solidFill>
            <a:srgbClr val="CADCF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434340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761488" y="4343400"/>
            <a:ext cx="2057400" cy="502920"/>
          </a:xfrm>
          <a:prstGeom prst="roundRect">
            <a:avLst>
              <a:gd name="adj" fmla="val 50909"/>
            </a:avLst>
          </a:prstGeom>
          <a:solidFill>
            <a:srgbClr val="CADCF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2761488" y="434340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974336" y="4343400"/>
            <a:ext cx="2057400" cy="502920"/>
          </a:xfrm>
          <a:prstGeom prst="roundRect">
            <a:avLst>
              <a:gd name="adj" fmla="val 50909"/>
            </a:avLst>
          </a:prstGeom>
          <a:solidFill>
            <a:srgbClr val="CADCF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974336" y="434340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187184" y="4343400"/>
            <a:ext cx="2057400" cy="502920"/>
          </a:xfrm>
          <a:prstGeom prst="roundRect">
            <a:avLst>
              <a:gd name="adj" fmla="val 50909"/>
            </a:avLst>
          </a:prstGeom>
          <a:solidFill>
            <a:srgbClr val="B23A4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187184" y="434340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400032" y="4343400"/>
            <a:ext cx="2057400" cy="502920"/>
          </a:xfrm>
          <a:prstGeom prst="roundRect">
            <a:avLst>
              <a:gd name="adj" fmla="val 50909"/>
            </a:avLst>
          </a:prstGeom>
          <a:solidFill>
            <a:srgbClr val="CADCFC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400032" y="434340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120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Groups Captured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54864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Identity: Employee ID, Name, Department, Designation, Location, Manager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7607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Attendance: Date, Status, Login/Logout Time, Working Hours, Overtime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6035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Output: Tasks Assigned/Completed/Pending, Daily Target, Achievement %, Productivity %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63093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Case Handling: Priority, Case Status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Productivity MIS  |  Apr–Sep 2026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DATA QUALITY &amp; CLEANING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Before Analysis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in this report is formula-verified against the source — not manually pasted.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86400" cy="4160520"/>
          </a:xfrm>
          <a:prstGeom prst="roundRect">
            <a:avLst>
              <a:gd name="adj" fmla="val 1758"/>
            </a:avLst>
          </a:prstGeom>
          <a:solidFill>
            <a:srgbClr val="F4F6F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488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CHECKS — ALL PASSED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606040"/>
            <a:ext cx="256032" cy="25603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6060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57860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Employee IDs / Names / Departments / Dates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3063240"/>
            <a:ext cx="256032" cy="25603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0632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03580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Employee ID + Date combinations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3520440"/>
            <a:ext cx="256032" cy="25603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5204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49300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Working Hours or Pending Tasks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3977640"/>
            <a:ext cx="256032" cy="25603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39776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95020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Completed exceeding Tasks Assigned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2960" y="4434840"/>
            <a:ext cx="256032" cy="25603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4348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440740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 % outside the 0–100 range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2960" y="4892040"/>
            <a:ext cx="256032" cy="25603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48920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486460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Hours outside a 0–12 range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4406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source data was structurally clean — zero blanks, duplicates, or logic errors across 2,880 records.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1965960"/>
            <a:ext cx="5376672" cy="4160520"/>
          </a:xfrm>
          <a:prstGeom prst="roundRect">
            <a:avLst>
              <a:gd name="adj" fmla="val 1758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37960" y="21488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 APPLIED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537960" y="26060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(text → real date)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537960" y="286207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with DATE/VALUE/MID/LEFT — locale-safe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537960" y="32918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Login/Logout Time (text → time)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537960" y="354787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TIMEVALUE conversion; blanks kept for Absent/Leave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537960" y="39776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Tasks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537960" y="423367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Recomputed independently — 0 mismatches found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537960" y="46634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 %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537960" y="491947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Recomputed independently — 0 mismatches found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6537960" y="53492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 % vs Productivity %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537960" y="560527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100% identical — flagged, not silently dropped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Productivity MIS  |  Apr–Sep 2026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WORKFORCE KPIS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Headline Performance Metrics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B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– September 2026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263171"/>
          </a:solidFill>
          <a:ln w="12700">
            <a:solidFill>
              <a:srgbClr val="3B489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313432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82.9%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004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Achievement Rate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20574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263171"/>
          </a:solidFill>
          <a:ln w="12700">
            <a:solidFill>
              <a:srgbClr val="3B489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97680" y="2313432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96.8%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32004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Rate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20574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263171"/>
          </a:solidFill>
          <a:ln w="12700">
            <a:solidFill>
              <a:srgbClr val="3B489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0" y="2313432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50,652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32004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Completed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263171"/>
          </a:solidFill>
          <a:ln w="12700">
            <a:solidFill>
              <a:srgbClr val="3B489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325112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8,227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2120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Pending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97680" y="406908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263171"/>
          </a:solidFill>
          <a:ln w="12700">
            <a:solidFill>
              <a:srgbClr val="3B489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97680" y="4325112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8.08 hrs</a:t>
            </a:r>
            <a:endParaRPr lang="en-US" sz="36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52120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Working Hours/Day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46720" y="406908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263171"/>
          </a:solidFill>
          <a:ln w="12700">
            <a:solidFill>
              <a:srgbClr val="3B489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46720" y="4325112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1,480.6</a:t>
            </a:r>
            <a:endParaRPr lang="en-US" sz="36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52120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Overtime Hours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Productivity MIS  |  Apr–Sep 2026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DEPARTMENT PERFORMANCE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Achievement % by Department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8580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600200"/>
            <a:ext cx="3931920" cy="4480560"/>
          </a:xfrm>
          <a:prstGeom prst="roundRect">
            <a:avLst>
              <a:gd name="adj" fmla="val 1860"/>
            </a:avLst>
          </a:prstGeom>
          <a:solidFill>
            <a:srgbClr val="F4F6F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909560" y="1783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CHART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909560" y="2194560"/>
            <a:ext cx="219456" cy="21945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909560" y="219456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75320" y="2139696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(83.8%) and Customer Support (83.5%) lead all departments.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909560" y="3154680"/>
            <a:ext cx="219456" cy="21945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909560" y="315468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3099816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trails at 78.1% — nearly 6 points below the top performer.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909560" y="4114800"/>
            <a:ext cx="219456" cy="21945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909560" y="411480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275320" y="4059936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HR's sample is smaller (144 records vs 576–1,008 elsewhere), so trend should be monitored over more cycles.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909560" y="5074920"/>
            <a:ext cx="219456" cy="21945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909560" y="507492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8275320" y="5020056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a targeted process review for HR task allocation and daily targets.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Productivity MIS  |  Apr–Sep 2026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TREND &amp; ATTENDANCE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Six-Month Trend and Attendance Mix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Avg. Achievement %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6492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406640" y="15087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Status Mix</a:t>
            </a:r>
            <a:endParaRPr lang="en-US" sz="125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7406640" y="1828800"/>
          <a:ext cx="42062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7406640" y="484632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96.8% combined Present + Late + Half Day attendance — a strong, stable base.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Productivity MIS  |  Apr–Sep 2026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CASE HANDLING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Process Bottleneck in Case Closure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Cross-tabulation of case Priority against Case Status (record counts)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6675120" cy="2377440"/>
        </p:xfrm>
        <a:graphic>
          <a:graphicData uri="http://schemas.openxmlformats.org/drawingml/2006/table">
            <a:tbl>
              <a:tblPr/>
              <a:tblGrid>
                <a:gridCol w="1554480"/>
                <a:gridCol w="1280160"/>
                <a:gridCol w="1280160"/>
                <a:gridCol w="1280160"/>
                <a:gridCol w="128016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Backlog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663440"/>
            <a:ext cx="6675120" cy="1417320"/>
          </a:xfrm>
          <a:prstGeom prst="roundRect">
            <a:avLst>
              <a:gd name="adj" fmla="val 5161"/>
            </a:avLst>
          </a:prstGeom>
          <a:solidFill>
            <a:srgbClr val="FCEEEF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507492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Low-priority cases are ever marked “Closed” in this period. Every Critical, High, and Medium priority case remains In Progress, Pending, or Backlog — none reach formal closure, suggesting a review or sign-off step may be stalling for higher-priority work.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635240" y="2011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Cases by Status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635240" y="242316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818120" y="2532888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1,182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9418320" y="242316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635240" y="342900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818120" y="3538728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45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908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9418320" y="342900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635240" y="443484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818120" y="4544568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653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9418320" y="443484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7635240" y="544068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818120" y="5550408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137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9418320" y="544068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Productivity MIS  |  Apr–Sep 2026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INDIVIDUAL PERFORMANCE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&amp; Bottom Performers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average Achievement % across the full period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F4F6F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606040"/>
            <a:ext cx="384048" cy="384048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606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62432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Vikram Patel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62432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85.0%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264408"/>
            <a:ext cx="384048" cy="384048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264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28269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Verma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328269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84.9%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3922776"/>
            <a:ext cx="384048" cy="384048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9227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94106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 Mehta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394106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84.9%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4581144"/>
            <a:ext cx="384048" cy="384048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5811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5994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Siddharth Roy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45994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84.9%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2960" y="5239512"/>
            <a:ext cx="384048" cy="384048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52395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5257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Aarav Sharma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0" y="5257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84.3%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63640" y="2011680"/>
            <a:ext cx="5376672" cy="4114800"/>
          </a:xfrm>
          <a:prstGeom prst="roundRect">
            <a:avLst>
              <a:gd name="adj" fmla="val 1778"/>
            </a:avLst>
          </a:prstGeom>
          <a:solidFill>
            <a:srgbClr val="FCEEE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537960" y="21945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FOCUS (BOTTOM 5)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537960" y="2606040"/>
            <a:ext cx="384048" cy="384048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537960" y="2606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086600" y="26243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Tanya Bose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241280" y="262432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78.1%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537960" y="3264408"/>
            <a:ext cx="384048" cy="384048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37960" y="3264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7086600" y="328269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Ishita Roy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10241280" y="328269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80.8%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537960" y="3922776"/>
            <a:ext cx="384048" cy="384048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537960" y="39227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7086600" y="394106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Sneha Das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10241280" y="394106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81.2%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537960" y="4581144"/>
            <a:ext cx="384048" cy="384048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537960" y="45811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7086600" y="459943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Karan Malhotra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10241280" y="45994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81.7%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537960" y="5239512"/>
            <a:ext cx="384048" cy="384048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537960" y="52395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7086600" y="52578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Jain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10241280" y="52578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81.8%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Productivity MIS  |  Apr–Sep 2026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RECOMMENDATIONS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Actions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4592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HR Task Allocation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1168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HR's average achievement (78.1%) trails every other department by 4–6 points. Audit daily targets and task distribution for the HR team specifically.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8620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862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81635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Case-Closure Bottleneck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18211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Critical, High, or Medium priority case was closed this period. Identify where the sign-off/review step is stalling for higher-priority work.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03250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0325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986784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Consistent Top Performers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52544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Vikram Patel, Rahul Verma, Rohan Mehta, and Siddharth Roy each average 84.9%+ — formalize recognition and consider them for process-mentor roles.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20293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2029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157216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 the Duplicate Productivity % Field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522976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 % and Productivity % were found to be 100% identical. Simplify future data capture by tracking one metric, not two.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Productivity MIS  |  Apr–Sep 2026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263171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572000"/>
            <a:ext cx="3657600" cy="3657600"/>
          </a:xfrm>
          <a:prstGeom prst="ellipse">
            <a:avLst/>
          </a:prstGeom>
          <a:solidFill>
            <a:srgbClr val="26317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65176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 welcome.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4206240"/>
            <a:ext cx="201168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3891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B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Productivity MIS Dashboard  |  Apr–Sep 2026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B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workbook: MIS_Employee_Productivity_Dashboard.xlsx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2026-09-19T16:18:50Z</dcterms:created>
  <dcterms:modified xsi:type="dcterms:W3CDTF">2026-09-19T16:18:50Z</dcterms:modified>
</cp:coreProperties>
</file>